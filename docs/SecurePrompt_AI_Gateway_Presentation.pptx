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03120"/>
            <a:ext cx="103327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  <a:latin typeface="Calibri"/>
              </a:defRPr>
            </a:pPr>
            <a:r>
              <a:t>SecurePrompt AI Gateway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91840"/>
            <a:ext cx="10332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000" b="0">
                <a:solidFill>
                  <a:srgbClr val="818CF8"/>
                </a:solidFill>
                <a:latin typeface="Calibri"/>
              </a:defRPr>
            </a:pPr>
            <a:r>
              <a:t>Enterprise Zero-Trust AI DLP Firewall &amp; Role-Based Access Control (RBAC) Gateway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4114800"/>
            <a:ext cx="365760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103327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Designed and Developed by: Prathyusha (IAM &amp; AI Security Specialist)</a:t>
            </a:r>
            <a:br/>
            <a:r>
              <a:t>Showcasing skills in: Identity &amp; Access Management, Data Loss Prevention, &amp; GenAI Gateways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1">
                <a:solidFill>
                  <a:srgbClr val="818CF8"/>
                </a:solidFill>
                <a:latin typeface="Calibri"/>
              </a:defRPr>
            </a:pPr>
            <a:r>
              <a:t>SECUREPROMPT AI GATEWAY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Enterprise AI Security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94A3B8"/>
                </a:solidFill>
                <a:latin typeface="Calibri"/>
              </a:defRPr>
            </a:pPr>
            <a:r>
              <a:t>•  Uncontrolled LLM Adoption: Employees and developers paste proprietary code, cloud credentials, and corporate reports into ChatGPT/Claude.</a:t>
            </a:r>
          </a:p>
          <a:p>
            <a:pPr>
              <a:spcAft>
                <a:spcPts val="1000"/>
              </a:spcAft>
              <a:defRPr sz="1600">
                <a:solidFill>
                  <a:srgbClr val="94A3B8"/>
                </a:solidFill>
                <a:latin typeface="Calibri"/>
              </a:defRPr>
            </a:pPr>
            <a:r>
              <a:t>•  Corporate Data Leakage (DLP): Third-party AI providers retain prompts for training, creating compliance violations (GDPR, DPDP, HIPAA, PCI-DSS).</a:t>
            </a:r>
          </a:p>
          <a:p>
            <a:pPr>
              <a:spcAft>
                <a:spcPts val="1000"/>
              </a:spcAft>
              <a:defRPr sz="1600">
                <a:solidFill>
                  <a:srgbClr val="94A3B8"/>
                </a:solidFill>
                <a:latin typeface="Calibri"/>
              </a:defRPr>
            </a:pPr>
            <a:r>
              <a:t>•  Credential Exposure: API keys, cloud connections, and GitHub/Slack tokens pasted into prompts expose internal infrastructure.</a:t>
            </a:r>
          </a:p>
          <a:p>
            <a:pPr>
              <a:spcAft>
                <a:spcPts val="1000"/>
              </a:spcAft>
              <a:defRPr sz="1600">
                <a:solidFill>
                  <a:srgbClr val="94A3B8"/>
                </a:solidFill>
                <a:latin typeface="Calibri"/>
              </a:defRPr>
            </a:pPr>
            <a:r>
              <a:t>•  Lack of Access Control (IAM): Traditional firewalls cannot read or govern prompt payload contexts, leaving security teams blind.</a:t>
            </a:r>
          </a:p>
          <a:p>
            <a:pPr>
              <a:spcAft>
                <a:spcPts val="1000"/>
              </a:spcAft>
              <a:defRPr sz="1600">
                <a:solidFill>
                  <a:srgbClr val="94A3B8"/>
                </a:solidFill>
                <a:latin typeface="Calibri"/>
              </a:defRPr>
            </a:pPr>
            <a:r>
              <a:t>•  The Solution: SecurePrompt AI Gateway sits between the user and the LLM, analyzing every request in real time BEFORE it leaves the company boundary.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1">
                <a:solidFill>
                  <a:srgbClr val="818CF8"/>
                </a:solidFill>
                <a:latin typeface="Calibri"/>
              </a:defRPr>
            </a:pPr>
            <a:r>
              <a:t>SECUREPROMPT AI GATEWAY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System Architecture &amp; End-to-End Data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30352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•  Frontend Client: Single-page React application compiled via Babel, styled with Tailwind CSS, utilizing Chart.js for visualization.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•  FastAPI Firewall Gateway: High-performance, asynchronous REST backend responsible for inspection, policy evaluation, and routing.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•  Multi-Stage Scanner Pipeline: Prompts and attachments undergo sequential checks (PII, secrets, jailbreaks, prompt injection).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•  Remediation &amp; Hashing: High-risk entries are blocked; remediable items are masked/redacted automatically using Scrypt entropy-safe hashes.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•  Observability DB: Audit logs and policy violations logged to a central PostgreSQL (Supabase) database with transactional connection pooling.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459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00" b="1">
                <a:solidFill>
                  <a:srgbClr val="818CF8"/>
                </a:solidFill>
                <a:latin typeface="Calibri"/>
              </a:defRPr>
            </a:pPr>
            <a:r>
              <a:t>System Topology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923092928000"/>
            <a:ext cx="5029200" cy="548640"/>
          </a:xfrm>
          <a:prstGeom prst="roundRect">
            <a:avLst/>
          </a:prstGeom>
          <a:solidFill>
            <a:srgbClr val="161C2D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FFFFFF"/>
                </a:solidFill>
                <a:latin typeface="Calibri"/>
              </a:defRPr>
            </a:pPr>
            <a:r>
              <a:t>User Prompt / File Upload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675607552000"/>
            <a:ext cx="5029200" cy="548640"/>
          </a:xfrm>
          <a:prstGeom prst="roundRect">
            <a:avLst/>
          </a:prstGeom>
          <a:solidFill>
            <a:srgbClr val="161C2D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FFFFFF"/>
                </a:solidFill>
                <a:latin typeface="Calibri"/>
              </a:defRPr>
            </a:pPr>
            <a:r>
              <a:t>FastAPI /analyze API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3428121261600"/>
            <a:ext cx="5029200" cy="548640"/>
          </a:xfrm>
          <a:prstGeom prst="roundRect">
            <a:avLst/>
          </a:prstGeom>
          <a:solidFill>
            <a:srgbClr val="161C2D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FFFFFF"/>
                </a:solidFill>
                <a:latin typeface="Calibri"/>
              </a:defRPr>
            </a:pPr>
            <a:r>
              <a:t>DLP Pipeline (PII/Secrets/Jailbreak Scans)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4180636800000"/>
            <a:ext cx="5029200" cy="548640"/>
          </a:xfrm>
          <a:prstGeom prst="roundRect">
            <a:avLst/>
          </a:prstGeom>
          <a:solidFill>
            <a:srgbClr val="161C2D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FFFFFF"/>
                </a:solidFill>
                <a:latin typeface="Calibri"/>
              </a:defRPr>
            </a:pPr>
            <a:r>
              <a:t>Policy &amp; Risk Engine (policies.yaml)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4933151424000"/>
            <a:ext cx="5029200" cy="548640"/>
          </a:xfrm>
          <a:prstGeom prst="roundRect">
            <a:avLst/>
          </a:prstGeom>
          <a:solidFill>
            <a:srgbClr val="161C2D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FFFFFF"/>
                </a:solidFill>
                <a:latin typeface="Calibri"/>
              </a:defRPr>
            </a:pPr>
            <a:r>
              <a:t>Dynamic Outbound LLM Router (Groq/OpenAI)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1">
                <a:solidFill>
                  <a:srgbClr val="818CF8"/>
                </a:solidFill>
                <a:latin typeface="Calibri"/>
              </a:defRPr>
            </a:pPr>
            <a:r>
              <a:t>SECUREPROMPT AI GATEWAY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Zero-Trust Scanner Pipeline &amp; Pattern Logic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•  AWS &amp; Cloud Keys: Matches AWS_ACCESS_KEY (using AKIA prefix checking) and AWS_SECRET_KEY pattern syntax.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•  GitHub &amp; Slack Tokens: Scans for oauth, personal access tokens (ghp_, ghx_), and Slack bots/app tokens.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•  PII &amp; PHI Detections: Captures regional identifiers (PAN Card, Aadhaar Card, SSN) and medical reports (PHI).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•  OpenAI API Keys (Modern sk-proj-): Enhanced regex pattern 'sk-[A-Za-z0-9_\-]{20,}' successfully detects modern OpenAI keys containing dashes.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•  Adversarial Protection: Detects prompt injection phrases and adversarial jailbreaks designed to bypass safety filters.</a:t>
            </a:r>
          </a:p>
        </p:txBody>
      </p:sp>
      <p:pic>
        <p:nvPicPr>
          <p:cNvPr id="5" name="Picture 4" descr="media__17844440450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846320" cy="4114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583680" y="1645920"/>
            <a:ext cx="4846320" cy="4114800"/>
          </a:xfrm>
          <a:prstGeom prst="rect">
            <a:avLst/>
          </a:prstGeom>
          <a:noFill/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1">
                <a:solidFill>
                  <a:srgbClr val="818CF8"/>
                </a:solidFill>
                <a:latin typeface="Calibri"/>
              </a:defRPr>
            </a:pPr>
            <a:r>
              <a:t>SECUREPROMPT AI GATEWAY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Enterprise-Grade DLP Policy Configurations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94A3B8"/>
                </a:solidFill>
                <a:latin typeface="Calibri"/>
              </a:defRPr>
            </a:pPr>
            <a:r>
              <a:t>•  Declarative Control (policies.yaml): Policies are configured in YAML and reloaded on the fly without code changes or restarts.</a:t>
            </a:r>
          </a:p>
          <a:p>
            <a:pPr>
              <a:spcAft>
                <a:spcPts val="1000"/>
              </a:spcAft>
              <a:defRPr sz="1500">
                <a:solidFill>
                  <a:srgbClr val="94A3B8"/>
                </a:solidFill>
                <a:latin typeface="Calibri"/>
              </a:defRPr>
            </a:pPr>
            <a:r>
              <a:t>•  BLOCK_PROPRIETARY_CODE: Detects programming syntax/keywords or file extensions (.py, .js, .java) and restricts code upload.</a:t>
            </a:r>
          </a:p>
          <a:p>
            <a:pPr>
              <a:spcAft>
                <a:spcPts val="1000"/>
              </a:spcAft>
              <a:defRPr sz="1500">
                <a:solidFill>
                  <a:srgbClr val="94A3B8"/>
                </a:solidFill>
                <a:latin typeface="Calibri"/>
              </a:defRPr>
            </a:pPr>
            <a:r>
              <a:t>•  BLOCK_CLOUD_SECRETS: Catches cloud provider keys, API tokens, and database connection strings.</a:t>
            </a:r>
          </a:p>
          <a:p>
            <a:pPr>
              <a:spcAft>
                <a:spcPts val="1000"/>
              </a:spcAft>
              <a:defRPr sz="1500">
                <a:solidFill>
                  <a:srgbClr val="94A3B8"/>
                </a:solidFill>
                <a:latin typeface="Calibri"/>
              </a:defRPr>
            </a:pPr>
            <a:r>
              <a:t>•  BLOCK_HR_PAYROLL: Restricts salary spreadsheets, compensation letters, and payroll databases.</a:t>
            </a:r>
          </a:p>
          <a:p>
            <a:pPr>
              <a:spcAft>
                <a:spcPts val="1000"/>
              </a:spcAft>
              <a:defRPr sz="1500">
                <a:solidFill>
                  <a:srgbClr val="94A3B8"/>
                </a:solidFill>
                <a:latin typeface="Calibri"/>
              </a:defRPr>
            </a:pPr>
            <a:r>
              <a:t>•  BLOCK_INFRA_ARCHITECTURE: Blocks upload of system architectures, network topology documents, or database design files.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1">
                <a:solidFill>
                  <a:srgbClr val="818CF8"/>
                </a:solidFill>
                <a:latin typeface="Calibri"/>
              </a:defRPr>
            </a:pPr>
            <a:r>
              <a:t>SECUREPROMPT AI GATEWAY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IAM: Secure Registration &amp; Authentication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•  Enterprise Portal: Sleek Sign In / Create Account workflow secures the gateway from unauthorized public access.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•  Native Hashing (scrypt): Passwords are fully hashed with a randomized salt using the built-in hashlib.scrypt (memory-hard, recommended by OWASP).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•  Zero-Dependency Security: Solves compatibility issues and security vulnerabilities of legacy packages by using Python native libraries.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•  Enterprise Role Selection: Users register with distinct roles - 'User (Developer)' or 'Security Admin' - which dictate dashboard privileges.</a:t>
            </a:r>
          </a:p>
        </p:txBody>
      </p:sp>
      <p:pic>
        <p:nvPicPr>
          <p:cNvPr id="5" name="Picture 4" descr="media__17844466826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846320" cy="4114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583680" y="1645920"/>
            <a:ext cx="4846320" cy="4114800"/>
          </a:xfrm>
          <a:prstGeom prst="rect">
            <a:avLst/>
          </a:prstGeom>
          <a:noFill/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1">
                <a:solidFill>
                  <a:srgbClr val="818CF8"/>
                </a:solidFill>
                <a:latin typeface="Calibri"/>
              </a:defRPr>
            </a:pPr>
            <a:r>
              <a:t>SECUREPROMPT AI GATEWAY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IAM: Role-Based Observability &amp; Auditing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•  Greeting &amp; Role Badge: Greeting ('Hello prathyusha') and active role displayed in the top right ('developer' or 'security_admin').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•  Developer Role (Least Privilege): Data is strictly partitioned. Developers can only view their own dashboard, audit logs, and reports.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•  Security Admin (Auditor): Bypasses filters to see the aggregated logs of all developers, maintaining full oversight.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•  Safe Gateway Remediation: If a prompt violates policy, developers can click 'Mask Sensitive Data (Auto Fix)' to send a safe, redacted version.</a:t>
            </a:r>
          </a:p>
        </p:txBody>
      </p:sp>
      <p:pic>
        <p:nvPicPr>
          <p:cNvPr id="5" name="Picture 4" descr="media__17844447866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846320" cy="4114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583680" y="1645920"/>
            <a:ext cx="4846320" cy="4114800"/>
          </a:xfrm>
          <a:prstGeom prst="rect">
            <a:avLst/>
          </a:prstGeom>
          <a:noFill/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1">
                <a:solidFill>
                  <a:srgbClr val="818CF8"/>
                </a:solidFill>
                <a:latin typeface="Calibri"/>
              </a:defRPr>
            </a:pPr>
            <a:r>
              <a:t>SECUREPROMPT AI GATEWAY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Real-Time EDA Analysis &amp; Observability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•  Date-Filtered Analysis: Dynamic date pickers calculate analytics reports for specific compliance windows.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•  Line Chart: Illustrates daily request volume and average risk trends.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•  Doughnut Chart: Shows the decision distribution (Allowed, Warned, Blocked).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•  Bar Chart: Renders entity detections overview (Aadhaar, PAN, SSN, Secrets, Code).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•  Automated Anomalies &amp; Insights: Highlights outliers (e.g. 'Allowed prompts are on average 46% longer than blocked ones').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•  Supabase Connection Pooling: Transaction pooling handles high concurrent DB queries during analytics compilation.</a:t>
            </a:r>
          </a:p>
        </p:txBody>
      </p:sp>
      <p:pic>
        <p:nvPicPr>
          <p:cNvPr id="5" name="Picture 4" descr="media__17844427793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846320" cy="4114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583680" y="1645920"/>
            <a:ext cx="4846320" cy="4114800"/>
          </a:xfrm>
          <a:prstGeom prst="rect">
            <a:avLst/>
          </a:prstGeom>
          <a:noFill/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1">
                <a:solidFill>
                  <a:srgbClr val="818CF8"/>
                </a:solidFill>
                <a:latin typeface="Calibri"/>
              </a:defRPr>
            </a:pPr>
            <a:r>
              <a:t>SECUREPROMPT AI GATEWAY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IAM Deep-Dive: Role-Based Data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00" b="1">
                <a:solidFill>
                  <a:srgbClr val="818CF8"/>
                </a:solidFill>
                <a:latin typeface="Calibri"/>
              </a:defRPr>
            </a:pPr>
            <a:r>
              <a:t>PEP / PDP / PIP Implementation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50292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  <a:latin typeface="Calibri"/>
              </a:defRPr>
            </a:pPr>
            <a:r>
              <a:t>•  PEP (Policy Enforcement Point): FastAPI gateway intercepts the incoming request and validates the X-User-Id header context.</a:t>
            </a:r>
          </a:p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  <a:latin typeface="Calibri"/>
              </a:defRPr>
            </a:pPr>
            <a:r>
              <a:t>•  PDP (Policy Decision Point): The backend resolves authorization by querying the database to fetch the active user role ('developer' vs 'security_admin').</a:t>
            </a:r>
          </a:p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  <a:latin typeface="Calibri"/>
              </a:defRPr>
            </a:pPr>
            <a:r>
              <a:t>•  PIP (Policy Information Point): Dynamic query filtering acts as Row-Level Security. Developers only query and view logs where AuditLog.user matches their email.</a:t>
            </a:r>
          </a:p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  <a:latin typeface="Calibri"/>
              </a:defRPr>
            </a:pPr>
            <a:r>
              <a:t>•  Observability Separation: Security Admins bypass row filters to perform aggregated analytics across the entire tenant's data logs.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6459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00" b="1">
                <a:solidFill>
                  <a:srgbClr val="34D399"/>
                </a:solidFill>
                <a:latin typeface="Calibri"/>
              </a:defRPr>
            </a:pPr>
            <a:r>
              <a:t>Future Enterprise IAM &amp; Security Concepts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03120"/>
            <a:ext cx="50292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  <a:latin typeface="Calibri"/>
              </a:defRPr>
            </a:pPr>
            <a:r>
              <a:t>•  Signed JWT Claims: Transition to JSON Web Tokens (JWT) to cryptographically sign claims (email, role, department), avoiding database roundtrips.</a:t>
            </a:r>
          </a:p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  <a:latin typeface="Calibri"/>
              </a:defRPr>
            </a:pPr>
            <a:r>
              <a:t>•  PII Tokenization Vault: Use a secure token vault to replace sensitive PII (e.g. name) with temporary tokens (e.g. TOKEN_98) before LLM routing, detokenizing on return.</a:t>
            </a:r>
          </a:p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  <a:latin typeface="Calibri"/>
              </a:defRPr>
            </a:pPr>
            <a:r>
              <a:t>•  LLM Credential Vaulting: Store model API keys in HashiCorp Vault or AWS Secrets Manager. Gateway proxies requests to enforce Least Privilege access.</a:t>
            </a:r>
          </a:p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  <a:latin typeface="Calibri"/>
              </a:defRPr>
            </a:pPr>
            <a:r>
              <a:t>•  Attribute-Based Access Control (ABAC): Control LLM routing and rate-limiting using attributes like department budgets, time-of-day, and prompt costs.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1">
                <a:solidFill>
                  <a:srgbClr val="818CF8"/>
                </a:solidFill>
                <a:latin typeface="Calibri"/>
              </a:defRPr>
            </a:pPr>
            <a:r>
              <a:t>SECUREPROMPT AI GATEWAY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Summary &amp; Career Roadmap: Security with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94A3B8"/>
                </a:solidFill>
                <a:latin typeface="Calibri"/>
              </a:defRPr>
            </a:pPr>
            <a:r>
              <a:t>•  Full-Stack Foundation: Built a high-performance, containerized, and deployed firewall bridging Web App engineering and AI governance.</a:t>
            </a:r>
          </a:p>
          <a:p>
            <a:pPr>
              <a:spcAft>
                <a:spcPts val="1000"/>
              </a:spcAft>
              <a:defRPr sz="1500">
                <a:solidFill>
                  <a:srgbClr val="94A3B8"/>
                </a:solidFill>
                <a:latin typeface="Calibri"/>
              </a:defRPr>
            </a:pPr>
            <a:r>
              <a:t>•  Core Skill Demonstration: Showcases strong proficiency in IAM (RBAC, Scrypt Hashing, Token Contexts) and DLP (Regex, Heuristics, Policy Engine).</a:t>
            </a:r>
          </a:p>
          <a:p>
            <a:pPr>
              <a:spcAft>
                <a:spcPts val="1000"/>
              </a:spcAft>
              <a:defRPr sz="1500">
                <a:solidFill>
                  <a:srgbClr val="94A3B8"/>
                </a:solidFill>
                <a:latin typeface="Calibri"/>
              </a:defRPr>
            </a:pPr>
            <a:r>
              <a:t>•  Future AI Security Use Cases to Propose to Manager:</a:t>
            </a:r>
          </a:p>
          <a:p>
            <a:pPr>
              <a:spcAft>
                <a:spcPts val="1000"/>
              </a:spcAft>
              <a:defRPr sz="1500">
                <a:solidFill>
                  <a:srgbClr val="94A3B8"/>
                </a:solidFill>
                <a:latin typeface="Calibri"/>
              </a:defRPr>
            </a:pPr>
            <a:r>
              <a:t>•     1. LLM Evaluation &amp; Guardrails: Add alignment scanners (hallucination checks, toxic output filtering, prompt alignment).</a:t>
            </a:r>
          </a:p>
          <a:p>
            <a:pPr>
              <a:spcAft>
                <a:spcPts val="1000"/>
              </a:spcAft>
              <a:defRPr sz="1500">
                <a:solidFill>
                  <a:srgbClr val="94A3B8"/>
                </a:solidFill>
                <a:latin typeface="Calibri"/>
              </a:defRPr>
            </a:pPr>
            <a:r>
              <a:t>•     2. Vector DB Sanitization: Implement safe embeddings (strip PII before converting prompts to vectors for retrieval-augmented generation).</a:t>
            </a:r>
          </a:p>
          <a:p>
            <a:pPr>
              <a:spcAft>
                <a:spcPts val="1000"/>
              </a:spcAft>
              <a:defRPr sz="1500">
                <a:solidFill>
                  <a:srgbClr val="94A3B8"/>
                </a:solidFill>
                <a:latin typeface="Calibri"/>
              </a:defRPr>
            </a:pPr>
            <a:r>
              <a:t>•     3. API Key Vault Integration: Store target LLM API keys in HashiCorp Vault or AWS Secrets Manager, injected dynamically by the gateway.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